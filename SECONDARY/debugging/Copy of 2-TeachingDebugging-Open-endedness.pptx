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61341C-01B2-4067-B3A5-1C42740D23DF}">
  <a:tblStyle styleId="{5661341C-01B2-4067-B3A5-1C42740D23D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3fd0be9ff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73fd0be9f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23d9dfb04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23d9dfb04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error is popping up? What exactly is not working with your code? When did the code stop working?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23d9dfb04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23d9dfb04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23d9dfb04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723d9dfb0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23d9dfb04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23d9dfb04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3fd0be9f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3fd0be9f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fd0be9f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3fd0be9f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3fd0be9f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3fd0be9f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23d9dfb04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23d9dfb04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23d9dfb04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23d9dfb04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23d9dfb04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23d9dfb04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23d9dfb04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23d9dfb04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23d9dfb04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23d9dfb04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23d9dfb04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723d9dfb04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23d9dfb04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23d9dfb04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3fd0be9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3fd0be9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23d9dfb04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23d9dfb04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23d9dfb04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723d9dfb04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723d9dfb04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723d9dfb04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3fef14a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73fef14a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3fef14a5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73fef14a5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723d9dfb04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723d9dfb04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3fd0be9f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73fd0be9f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Open-endedness in Debugging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idx="4294967295" type="title"/>
          </p:nvPr>
        </p:nvSpPr>
        <p:spPr>
          <a:xfrm>
            <a:off x="159300" y="16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Let’s start with a question.</a:t>
            </a:r>
            <a:endParaRPr b="1"/>
          </a:p>
        </p:txBody>
      </p:sp>
      <p:sp>
        <p:nvSpPr>
          <p:cNvPr id="105" name="Google Shape;105;p26"/>
          <p:cNvSpPr txBox="1"/>
          <p:nvPr>
            <p:ph idx="4294967295" type="body"/>
          </p:nvPr>
        </p:nvSpPr>
        <p:spPr>
          <a:xfrm>
            <a:off x="338100" y="1162925"/>
            <a:ext cx="8467800" cy="25518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You walk up to one of your students… </a:t>
            </a:r>
            <a:br>
              <a:rPr lang="en" sz="2000"/>
            </a:br>
            <a:r>
              <a:rPr lang="en" sz="2000"/>
              <a:t>The student is debugging…</a:t>
            </a:r>
            <a:br>
              <a:rPr lang="en" sz="2000"/>
            </a:br>
            <a:r>
              <a:rPr lang="en" sz="2000"/>
              <a:t>You want your student to figure out why their code is broken…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000"/>
              <a:t>In the flow of the conversation, what do you think you might say? Try to capture your authentic voice, what you would really say/do in this moment. </a:t>
            </a:r>
            <a:endParaRPr b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4294967295" type="title"/>
          </p:nvPr>
        </p:nvSpPr>
        <p:spPr>
          <a:xfrm>
            <a:off x="159300" y="16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Let’s start by looking at some code...</a:t>
            </a:r>
            <a:endParaRPr b="1"/>
          </a:p>
        </p:txBody>
      </p:sp>
      <p:pic>
        <p:nvPicPr>
          <p:cNvPr id="111" name="Google Shape;11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500" y="778025"/>
            <a:ext cx="7080996" cy="4104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499" y="274375"/>
            <a:ext cx="8237000" cy="35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9" title="Screenshot 2025-07-30 at 4.03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116" y="76200"/>
            <a:ext cx="6672311" cy="499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/>
          <p:cNvSpPr/>
          <p:nvPr/>
        </p:nvSpPr>
        <p:spPr>
          <a:xfrm>
            <a:off x="4283700" y="152400"/>
            <a:ext cx="3684300" cy="118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23" name="Google Shape;123;p29"/>
          <p:cNvSpPr/>
          <p:nvPr/>
        </p:nvSpPr>
        <p:spPr>
          <a:xfrm>
            <a:off x="2276475" y="1524000"/>
            <a:ext cx="6420900" cy="358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24" name="Google Shape;124;p29"/>
          <p:cNvSpPr/>
          <p:nvPr/>
        </p:nvSpPr>
        <p:spPr>
          <a:xfrm>
            <a:off x="3819700" y="457325"/>
            <a:ext cx="5072100" cy="198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25" name="Google Shape;125;p29"/>
          <p:cNvSpPr/>
          <p:nvPr/>
        </p:nvSpPr>
        <p:spPr>
          <a:xfrm>
            <a:off x="811050" y="1708750"/>
            <a:ext cx="5072100" cy="279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0" title="Screenshot 2025-07-30 at 4.03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116" y="76200"/>
            <a:ext cx="6672311" cy="499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0"/>
          <p:cNvSpPr/>
          <p:nvPr/>
        </p:nvSpPr>
        <p:spPr>
          <a:xfrm>
            <a:off x="4283700" y="152400"/>
            <a:ext cx="3684300" cy="118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2" name="Google Shape;132;p30"/>
          <p:cNvSpPr/>
          <p:nvPr/>
        </p:nvSpPr>
        <p:spPr>
          <a:xfrm>
            <a:off x="2276475" y="4114800"/>
            <a:ext cx="6420900" cy="99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3" name="Google Shape;133;p30"/>
          <p:cNvSpPr/>
          <p:nvPr/>
        </p:nvSpPr>
        <p:spPr>
          <a:xfrm>
            <a:off x="5883150" y="457325"/>
            <a:ext cx="3008700" cy="365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4" name="Google Shape;134;p30"/>
          <p:cNvSpPr/>
          <p:nvPr/>
        </p:nvSpPr>
        <p:spPr>
          <a:xfrm>
            <a:off x="5083050" y="3505200"/>
            <a:ext cx="3008700" cy="108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5" name="Google Shape;135;p30"/>
          <p:cNvSpPr/>
          <p:nvPr/>
        </p:nvSpPr>
        <p:spPr>
          <a:xfrm>
            <a:off x="811050" y="1708750"/>
            <a:ext cx="1465500" cy="279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1" title="Screenshot 2025-07-30 at 4.03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116" y="76200"/>
            <a:ext cx="6672311" cy="499109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1"/>
          <p:cNvSpPr/>
          <p:nvPr/>
        </p:nvSpPr>
        <p:spPr>
          <a:xfrm>
            <a:off x="4283700" y="152400"/>
            <a:ext cx="3684300" cy="118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42" name="Google Shape;142;p31"/>
          <p:cNvSpPr/>
          <p:nvPr/>
        </p:nvSpPr>
        <p:spPr>
          <a:xfrm>
            <a:off x="5883150" y="457325"/>
            <a:ext cx="3008700" cy="79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499" y="274375"/>
            <a:ext cx="8237000" cy="354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idx="4294967295" type="title"/>
          </p:nvPr>
        </p:nvSpPr>
        <p:spPr>
          <a:xfrm>
            <a:off x="159300" y="16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Let’s revisit the earlier prompt.</a:t>
            </a:r>
            <a:endParaRPr b="1"/>
          </a:p>
        </p:txBody>
      </p:sp>
      <p:sp>
        <p:nvSpPr>
          <p:cNvPr id="153" name="Google Shape;153;p33"/>
          <p:cNvSpPr txBox="1"/>
          <p:nvPr>
            <p:ph idx="4294967295" type="body"/>
          </p:nvPr>
        </p:nvSpPr>
        <p:spPr>
          <a:xfrm>
            <a:off x="338100" y="1162925"/>
            <a:ext cx="8467800" cy="30051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You walk up to one of your students… </a:t>
            </a:r>
            <a:br>
              <a:rPr lang="en" sz="2000"/>
            </a:br>
            <a:r>
              <a:rPr lang="en" sz="2000"/>
              <a:t>The student is debugging…</a:t>
            </a:r>
            <a:br>
              <a:rPr lang="en" sz="2000"/>
            </a:br>
            <a:r>
              <a:rPr lang="en" sz="2000"/>
              <a:t>You want your student to figure out why their code is broken…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/>
              <a:t>In the flow of the conversation, what did you say? </a:t>
            </a:r>
            <a:r>
              <a:rPr b="1" lang="en" sz="2000"/>
              <a:t>Compare what you said with this idea of open-ended pathways in debugging. </a:t>
            </a:r>
            <a:endParaRPr b="1"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000"/>
              <a:t>Can you think of a story where you encountered some kind of challenge around the open-endedness of debugging? </a:t>
            </a:r>
            <a:endParaRPr b="1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>
            <p:ph idx="1" type="body"/>
          </p:nvPr>
        </p:nvSpPr>
        <p:spPr>
          <a:xfrm>
            <a:off x="311700" y="259850"/>
            <a:ext cx="8520600" cy="46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300"/>
              <a:t>We have noticed that there is a </a:t>
            </a:r>
            <a:r>
              <a:rPr b="1" lang="en" sz="2300"/>
              <a:t>strong tendency</a:t>
            </a:r>
            <a:r>
              <a:rPr lang="en" sz="2300"/>
              <a:t> </a:t>
            </a:r>
            <a:br>
              <a:rPr lang="en" sz="2300"/>
            </a:br>
            <a:r>
              <a:rPr lang="en" sz="2300"/>
              <a:t>in the debugging educational research literature </a:t>
            </a:r>
            <a:br>
              <a:rPr lang="en" sz="2300"/>
            </a:br>
            <a:r>
              <a:rPr lang="en" sz="2300"/>
              <a:t>to think about debugging as the search for </a:t>
            </a:r>
            <a:br>
              <a:rPr lang="en" sz="2300"/>
            </a:br>
            <a:r>
              <a:rPr b="1" lang="en" sz="2300"/>
              <a:t>a singular </a:t>
            </a:r>
            <a:r>
              <a:rPr b="1" lang="en" sz="2300"/>
              <a:t>cause (bug)</a:t>
            </a:r>
            <a:endParaRPr b="1" sz="2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4963" y="152400"/>
            <a:ext cx="627407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5"/>
          <p:cNvSpPr txBox="1"/>
          <p:nvPr/>
        </p:nvSpPr>
        <p:spPr>
          <a:xfrm>
            <a:off x="5689850" y="4584900"/>
            <a:ext cx="787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(1987)</a:t>
            </a:r>
            <a:endParaRPr/>
          </a:p>
        </p:txBody>
      </p:sp>
      <p:sp>
        <p:nvSpPr>
          <p:cNvPr id="165" name="Google Shape;165;p35"/>
          <p:cNvSpPr/>
          <p:nvPr/>
        </p:nvSpPr>
        <p:spPr>
          <a:xfrm>
            <a:off x="2179625" y="1487575"/>
            <a:ext cx="596700" cy="1617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5"/>
          <p:cNvSpPr/>
          <p:nvPr/>
        </p:nvSpPr>
        <p:spPr>
          <a:xfrm>
            <a:off x="2055800" y="2287675"/>
            <a:ext cx="289500" cy="1617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5"/>
          <p:cNvSpPr/>
          <p:nvPr/>
        </p:nvSpPr>
        <p:spPr>
          <a:xfrm>
            <a:off x="5275250" y="1592350"/>
            <a:ext cx="414600" cy="1617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5"/>
          <p:cNvSpPr/>
          <p:nvPr/>
        </p:nvSpPr>
        <p:spPr>
          <a:xfrm>
            <a:off x="4902850" y="2886375"/>
            <a:ext cx="995400" cy="2916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5"/>
          <p:cNvSpPr/>
          <p:nvPr/>
        </p:nvSpPr>
        <p:spPr>
          <a:xfrm>
            <a:off x="4255150" y="3591225"/>
            <a:ext cx="414600" cy="1617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5"/>
          <p:cNvSpPr/>
          <p:nvPr/>
        </p:nvSpPr>
        <p:spPr>
          <a:xfrm>
            <a:off x="6336350" y="1430650"/>
            <a:ext cx="414600" cy="1617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5"/>
          <p:cNvSpPr/>
          <p:nvPr/>
        </p:nvSpPr>
        <p:spPr>
          <a:xfrm>
            <a:off x="6477350" y="1697350"/>
            <a:ext cx="366300" cy="161700"/>
          </a:xfrm>
          <a:prstGeom prst="rect">
            <a:avLst/>
          </a:prstGeom>
          <a:noFill/>
          <a:ln cap="flat" cmpd="sng" w="38100">
            <a:solidFill>
              <a:srgbClr val="D41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5"/>
          <p:cNvSpPr/>
          <p:nvPr/>
        </p:nvSpPr>
        <p:spPr>
          <a:xfrm>
            <a:off x="6336350" y="2449375"/>
            <a:ext cx="366300" cy="161700"/>
          </a:xfrm>
          <a:prstGeom prst="rect">
            <a:avLst/>
          </a:prstGeom>
          <a:noFill/>
          <a:ln cap="flat" cmpd="sng" w="38100">
            <a:solidFill>
              <a:srgbClr val="D41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idx="1" type="body"/>
          </p:nvPr>
        </p:nvSpPr>
        <p:spPr>
          <a:xfrm>
            <a:off x="311700" y="488450"/>
            <a:ext cx="8520600" cy="46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If you need help finding the problem, ask for help.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Find what your program is doing that you do not want it to do</a:t>
            </a:r>
            <a:br>
              <a:rPr lang="en" sz="1600">
                <a:solidFill>
                  <a:schemeClr val="dk1"/>
                </a:solidFill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Write the line number inside of the program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and separate with commas.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SET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'possibleCauses' to any lines of the program that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    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might be responsible for causing that incorrect 'behavior' 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 EACH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'cause' 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'possibleCauses'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	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Navigate to 'cause'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Ask for help if you need guidance on how.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Look at the code to verify if it causes the incorrect behavior 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'cause' is the cause of the problem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		</a:t>
            </a: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If you need help finding the problem, ask for help.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Find a way to stop 'cause' from happening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Ask for help if you need guidance on how. 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Change the program to stop the incorrect behavior 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Ask for help if you need guidance on how.</a:t>
            </a:r>
            <a:b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Mark the task as finished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you did not find the cause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Ask for help finding other possible causes 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Restart the strategy</a:t>
            </a:r>
            <a:b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8" name="Google Shape;178;p36"/>
          <p:cNvSpPr/>
          <p:nvPr/>
        </p:nvSpPr>
        <p:spPr>
          <a:xfrm>
            <a:off x="1887675" y="2645525"/>
            <a:ext cx="787200" cy="2115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6"/>
          <p:cNvSpPr/>
          <p:nvPr/>
        </p:nvSpPr>
        <p:spPr>
          <a:xfrm>
            <a:off x="2881850" y="2645525"/>
            <a:ext cx="9396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6"/>
          <p:cNvSpPr/>
          <p:nvPr/>
        </p:nvSpPr>
        <p:spPr>
          <a:xfrm>
            <a:off x="3232950" y="1582750"/>
            <a:ext cx="20022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6"/>
          <p:cNvSpPr/>
          <p:nvPr/>
        </p:nvSpPr>
        <p:spPr>
          <a:xfrm>
            <a:off x="2422375" y="565825"/>
            <a:ext cx="9939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6"/>
          <p:cNvSpPr/>
          <p:nvPr/>
        </p:nvSpPr>
        <p:spPr>
          <a:xfrm>
            <a:off x="1670125" y="3132800"/>
            <a:ext cx="485100" cy="161700"/>
          </a:xfrm>
          <a:prstGeom prst="rect">
            <a:avLst/>
          </a:prstGeom>
          <a:noFill/>
          <a:ln cap="flat" cmpd="sng" w="38100">
            <a:solidFill>
              <a:srgbClr val="D41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6"/>
          <p:cNvSpPr/>
          <p:nvPr/>
        </p:nvSpPr>
        <p:spPr>
          <a:xfrm>
            <a:off x="1887675" y="4250025"/>
            <a:ext cx="787200" cy="2115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6"/>
          <p:cNvSpPr txBox="1"/>
          <p:nvPr>
            <p:ph idx="1" type="body"/>
          </p:nvPr>
        </p:nvSpPr>
        <p:spPr>
          <a:xfrm>
            <a:off x="0" y="152400"/>
            <a:ext cx="9144000" cy="4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Ko et al. (2019)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25" y="638175"/>
            <a:ext cx="4924330" cy="7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428725"/>
            <a:ext cx="4833101" cy="360047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7"/>
          <p:cNvSpPr/>
          <p:nvPr/>
        </p:nvSpPr>
        <p:spPr>
          <a:xfrm>
            <a:off x="2841375" y="1995450"/>
            <a:ext cx="20832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7"/>
          <p:cNvSpPr/>
          <p:nvPr/>
        </p:nvSpPr>
        <p:spPr>
          <a:xfrm>
            <a:off x="1597525" y="3392000"/>
            <a:ext cx="423900" cy="211500"/>
          </a:xfrm>
          <a:prstGeom prst="rect">
            <a:avLst/>
          </a:prstGeom>
          <a:noFill/>
          <a:ln cap="flat" cmpd="sng" w="38100">
            <a:solidFill>
              <a:srgbClr val="D41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7"/>
          <p:cNvSpPr/>
          <p:nvPr/>
        </p:nvSpPr>
        <p:spPr>
          <a:xfrm>
            <a:off x="1597525" y="2326900"/>
            <a:ext cx="1041000" cy="2115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7"/>
          <p:cNvSpPr/>
          <p:nvPr/>
        </p:nvSpPr>
        <p:spPr>
          <a:xfrm>
            <a:off x="3783000" y="2857100"/>
            <a:ext cx="7890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7"/>
          <p:cNvSpPr/>
          <p:nvPr/>
        </p:nvSpPr>
        <p:spPr>
          <a:xfrm>
            <a:off x="2021425" y="3208275"/>
            <a:ext cx="569400" cy="2115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7"/>
          <p:cNvSpPr txBox="1"/>
          <p:nvPr>
            <p:ph idx="1" type="body"/>
          </p:nvPr>
        </p:nvSpPr>
        <p:spPr>
          <a:xfrm>
            <a:off x="0" y="152400"/>
            <a:ext cx="9144000" cy="4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DeLiema et al. (2020)</a:t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		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7" name="Google Shape;197;p37"/>
          <p:cNvSpPr/>
          <p:nvPr/>
        </p:nvSpPr>
        <p:spPr>
          <a:xfrm>
            <a:off x="3450975" y="2512625"/>
            <a:ext cx="497100" cy="211500"/>
          </a:xfrm>
          <a:prstGeom prst="rect">
            <a:avLst/>
          </a:prstGeom>
          <a:noFill/>
          <a:ln cap="flat" cmpd="sng" w="38100">
            <a:solidFill>
              <a:srgbClr val="00A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7"/>
          <p:cNvSpPr/>
          <p:nvPr/>
        </p:nvSpPr>
        <p:spPr>
          <a:xfrm>
            <a:off x="2268525" y="4089650"/>
            <a:ext cx="870000" cy="211500"/>
          </a:xfrm>
          <a:prstGeom prst="rect">
            <a:avLst/>
          </a:prstGeom>
          <a:noFill/>
          <a:ln cap="flat" cmpd="sng" w="38100">
            <a:solidFill>
              <a:srgbClr val="FEAE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9775" y="152400"/>
            <a:ext cx="3278220" cy="434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99" y="1505488"/>
            <a:ext cx="4260298" cy="2132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title"/>
          </p:nvPr>
        </p:nvSpPr>
        <p:spPr>
          <a:xfrm>
            <a:off x="152400" y="76200"/>
            <a:ext cx="855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do these dynamics play out in the classroom?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10" name="Google Shape;2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570" y="1398725"/>
            <a:ext cx="3492924" cy="31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9102" y="1480963"/>
            <a:ext cx="4308923" cy="297847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9"/>
          <p:cNvSpPr txBox="1"/>
          <p:nvPr/>
        </p:nvSpPr>
        <p:spPr>
          <a:xfrm>
            <a:off x="4677863" y="1480975"/>
            <a:ext cx="15180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</a:t>
            </a:r>
            <a:endParaRPr/>
          </a:p>
        </p:txBody>
      </p:sp>
      <p:sp>
        <p:nvSpPr>
          <p:cNvPr id="213" name="Google Shape;213;p39"/>
          <p:cNvSpPr txBox="1"/>
          <p:nvPr/>
        </p:nvSpPr>
        <p:spPr>
          <a:xfrm>
            <a:off x="6328238" y="1881175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</p:txBody>
      </p:sp>
      <p:sp>
        <p:nvSpPr>
          <p:cNvPr id="214" name="Google Shape;214;p39"/>
          <p:cNvSpPr txBox="1"/>
          <p:nvPr/>
        </p:nvSpPr>
        <p:spPr>
          <a:xfrm>
            <a:off x="7852663" y="1841350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</a:t>
            </a:r>
            <a:endParaRPr/>
          </a:p>
        </p:txBody>
      </p:sp>
      <p:sp>
        <p:nvSpPr>
          <p:cNvPr id="215" name="Google Shape;215;p39"/>
          <p:cNvSpPr txBox="1"/>
          <p:nvPr/>
        </p:nvSpPr>
        <p:spPr>
          <a:xfrm>
            <a:off x="6632863" y="3894800"/>
            <a:ext cx="17964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(all pseudonyms)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/>
          <p:nvPr>
            <p:ph type="title"/>
          </p:nvPr>
        </p:nvSpPr>
        <p:spPr>
          <a:xfrm>
            <a:off x="152400" y="76200"/>
            <a:ext cx="855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But first: Norms for watching video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1" name="Google Shape;221;p40"/>
          <p:cNvSpPr txBox="1"/>
          <p:nvPr>
            <p:ph idx="1" type="body"/>
          </p:nvPr>
        </p:nvSpPr>
        <p:spPr>
          <a:xfrm>
            <a:off x="309450" y="850525"/>
            <a:ext cx="8525100" cy="41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Watch all the way through.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Watch again, pause when folks request, rewatch, talk, comment.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Try not to pause the </a:t>
            </a:r>
            <a:r>
              <a:rPr lang="en" sz="2000"/>
              <a:t>video</a:t>
            </a:r>
            <a:r>
              <a:rPr lang="en" sz="2000"/>
              <a:t> for more than 5 minutes.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/>
              <a:t>Kinds of observations we might share:</a:t>
            </a:r>
            <a:endParaRPr b="1"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What are you seeing happening in the video?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What are you seeing happening in the video with respect to open-ended debugging pathways?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What stories come to mind from your classroom when you see this?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What teaching ideas does this clip raise for you? 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41" title="Screenshot 2025-07-30 at 4.24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523" y="0"/>
            <a:ext cx="18717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1"/>
          <p:cNvSpPr/>
          <p:nvPr/>
        </p:nvSpPr>
        <p:spPr>
          <a:xfrm>
            <a:off x="4687125" y="389300"/>
            <a:ext cx="2386500" cy="10992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1"/>
          <p:cNvSpPr txBox="1"/>
          <p:nvPr/>
        </p:nvSpPr>
        <p:spPr>
          <a:xfrm>
            <a:off x="7112400" y="389300"/>
            <a:ext cx="203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Starter code given to Ana.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29" name="Google Shape;229;p41"/>
          <p:cNvSpPr/>
          <p:nvPr/>
        </p:nvSpPr>
        <p:spPr>
          <a:xfrm>
            <a:off x="4640650" y="3942900"/>
            <a:ext cx="2386500" cy="10992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1"/>
          <p:cNvSpPr txBox="1"/>
          <p:nvPr/>
        </p:nvSpPr>
        <p:spPr>
          <a:xfrm>
            <a:off x="7065925" y="3942900"/>
            <a:ext cx="203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Starter code given to Ana. 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231" name="Google Shape;23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27" y="-12"/>
            <a:ext cx="4308923" cy="29784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1"/>
          <p:cNvSpPr txBox="1"/>
          <p:nvPr/>
        </p:nvSpPr>
        <p:spPr>
          <a:xfrm>
            <a:off x="366988" y="0"/>
            <a:ext cx="15180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</a:t>
            </a:r>
            <a:endParaRPr/>
          </a:p>
        </p:txBody>
      </p:sp>
      <p:sp>
        <p:nvSpPr>
          <p:cNvPr id="233" name="Google Shape;233;p41"/>
          <p:cNvSpPr txBox="1"/>
          <p:nvPr/>
        </p:nvSpPr>
        <p:spPr>
          <a:xfrm>
            <a:off x="2017363" y="400200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</p:txBody>
      </p:sp>
      <p:sp>
        <p:nvSpPr>
          <p:cNvPr id="234" name="Google Shape;234;p41"/>
          <p:cNvSpPr txBox="1"/>
          <p:nvPr/>
        </p:nvSpPr>
        <p:spPr>
          <a:xfrm>
            <a:off x="3541788" y="360375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</a:t>
            </a:r>
            <a:endParaRPr/>
          </a:p>
        </p:txBody>
      </p:sp>
      <p:sp>
        <p:nvSpPr>
          <p:cNvPr id="235" name="Google Shape;235;p41"/>
          <p:cNvSpPr txBox="1"/>
          <p:nvPr/>
        </p:nvSpPr>
        <p:spPr>
          <a:xfrm>
            <a:off x="2321988" y="2413825"/>
            <a:ext cx="17964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(all pseudonyms)</a:t>
            </a:r>
            <a:endParaRPr/>
          </a:p>
        </p:txBody>
      </p:sp>
      <p:pic>
        <p:nvPicPr>
          <p:cNvPr id="236" name="Google Shape;236;p41" title="Screenshot 2025-07-30 at 4.29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475" y="3088989"/>
            <a:ext cx="2010695" cy="186023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1"/>
          <p:cNvSpPr/>
          <p:nvPr/>
        </p:nvSpPr>
        <p:spPr>
          <a:xfrm>
            <a:off x="4973400" y="1573900"/>
            <a:ext cx="1814400" cy="2149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42" title="Screenshot 2025-07-30 at 4.24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523" y="0"/>
            <a:ext cx="18717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2"/>
          <p:cNvSpPr/>
          <p:nvPr/>
        </p:nvSpPr>
        <p:spPr>
          <a:xfrm>
            <a:off x="4687125" y="389300"/>
            <a:ext cx="2386500" cy="10992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2"/>
          <p:cNvSpPr txBox="1"/>
          <p:nvPr/>
        </p:nvSpPr>
        <p:spPr>
          <a:xfrm>
            <a:off x="7112400" y="389300"/>
            <a:ext cx="203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Starter code given to Ana.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45" name="Google Shape;245;p42"/>
          <p:cNvSpPr/>
          <p:nvPr/>
        </p:nvSpPr>
        <p:spPr>
          <a:xfrm>
            <a:off x="4640650" y="3942900"/>
            <a:ext cx="2386500" cy="10992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2"/>
          <p:cNvSpPr txBox="1"/>
          <p:nvPr/>
        </p:nvSpPr>
        <p:spPr>
          <a:xfrm>
            <a:off x="7065925" y="3942900"/>
            <a:ext cx="203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Starter code given to Ana. 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47" name="Google Shape;247;p42"/>
          <p:cNvSpPr/>
          <p:nvPr/>
        </p:nvSpPr>
        <p:spPr>
          <a:xfrm>
            <a:off x="4470425" y="1640725"/>
            <a:ext cx="2785500" cy="21186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2"/>
          <p:cNvSpPr txBox="1"/>
          <p:nvPr/>
        </p:nvSpPr>
        <p:spPr>
          <a:xfrm>
            <a:off x="7329200" y="2148450"/>
            <a:ext cx="2031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Code that Ana wrote.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id="249" name="Google Shape;24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27" y="-12"/>
            <a:ext cx="4308923" cy="297847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42"/>
          <p:cNvSpPr txBox="1"/>
          <p:nvPr/>
        </p:nvSpPr>
        <p:spPr>
          <a:xfrm>
            <a:off x="366988" y="0"/>
            <a:ext cx="15180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</a:t>
            </a:r>
            <a:endParaRPr/>
          </a:p>
        </p:txBody>
      </p:sp>
      <p:sp>
        <p:nvSpPr>
          <p:cNvPr id="251" name="Google Shape;251;p42"/>
          <p:cNvSpPr txBox="1"/>
          <p:nvPr/>
        </p:nvSpPr>
        <p:spPr>
          <a:xfrm>
            <a:off x="2017363" y="400200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</a:t>
            </a:r>
            <a:endParaRPr/>
          </a:p>
        </p:txBody>
      </p:sp>
      <p:sp>
        <p:nvSpPr>
          <p:cNvPr id="252" name="Google Shape;252;p42"/>
          <p:cNvSpPr txBox="1"/>
          <p:nvPr/>
        </p:nvSpPr>
        <p:spPr>
          <a:xfrm>
            <a:off x="3541788" y="360375"/>
            <a:ext cx="5766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Mel</a:t>
            </a:r>
            <a:endParaRPr/>
          </a:p>
        </p:txBody>
      </p:sp>
      <p:sp>
        <p:nvSpPr>
          <p:cNvPr id="253" name="Google Shape;253;p42"/>
          <p:cNvSpPr txBox="1"/>
          <p:nvPr/>
        </p:nvSpPr>
        <p:spPr>
          <a:xfrm>
            <a:off x="2321988" y="2413825"/>
            <a:ext cx="17964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(all pseudonyms)</a:t>
            </a:r>
            <a:endParaRPr/>
          </a:p>
        </p:txBody>
      </p:sp>
      <p:pic>
        <p:nvPicPr>
          <p:cNvPr id="254" name="Google Shape;254;p42" title="Screenshot 2025-07-30 at 4.29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475" y="3088989"/>
            <a:ext cx="2010695" cy="1860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3"/>
          <p:cNvSpPr txBox="1"/>
          <p:nvPr>
            <p:ph type="title"/>
          </p:nvPr>
        </p:nvSpPr>
        <p:spPr>
          <a:xfrm>
            <a:off x="152400" y="76200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Watch the video clip. </a:t>
            </a:r>
            <a:endParaRPr b="1"/>
          </a:p>
        </p:txBody>
      </p:sp>
      <p:sp>
        <p:nvSpPr>
          <p:cNvPr id="260" name="Google Shape;260;p43"/>
          <p:cNvSpPr txBox="1"/>
          <p:nvPr>
            <p:ph idx="1" type="body"/>
          </p:nvPr>
        </p:nvSpPr>
        <p:spPr>
          <a:xfrm>
            <a:off x="338100" y="858125"/>
            <a:ext cx="3106500" cy="5727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Any clarifying questions? </a:t>
            </a:r>
            <a:endParaRPr b="1" sz="2000"/>
          </a:p>
        </p:txBody>
      </p:sp>
      <p:sp>
        <p:nvSpPr>
          <p:cNvPr id="261" name="Google Shape;261;p43"/>
          <p:cNvSpPr txBox="1"/>
          <p:nvPr>
            <p:ph idx="1" type="body"/>
          </p:nvPr>
        </p:nvSpPr>
        <p:spPr>
          <a:xfrm>
            <a:off x="338100" y="1510013"/>
            <a:ext cx="31065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Re-watch the clip. </a:t>
            </a:r>
            <a:endParaRPr b="1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6" name="Google Shape;266;p44"/>
          <p:cNvGraphicFramePr/>
          <p:nvPr/>
        </p:nvGraphicFramePr>
        <p:xfrm>
          <a:off x="152400" y="28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{5661341C-01B2-4067-B3A5-1C42740D23DF}</a:tableStyleId>
              </a:tblPr>
              <a:tblGrid>
                <a:gridCol w="1046600"/>
                <a:gridCol w="7850025"/>
              </a:tblGrid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  ]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Left and right brackets indicate overlapping talk or action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(0.2)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Numbers in parentheses indicate pause in seconds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(.)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Dot in parentheses indicates a brief pause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word-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dash after a sound indicates a beat between utterances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::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Double colon indicates prolongation of prior sound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↑↓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Upward and downward arrow indicate a shift into higher or lower pitch, respectively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Question mark indicates a rise in pitch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Upper case letters indicate louder sounds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°word°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Degree signs surrounding talk indicates softer sounds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((action))</a:t>
                      </a:r>
                      <a:endParaRPr b="1"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 in bold, italicized font and surrounded by two pairs of parentheses indicates action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&lt;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Right then left carats indicate hurried or faster talk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(word)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Parentheses containing word(s) indicate possibilities for what was said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  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29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Empty parentheses indicate undecipherable speech. Wider space indicates a longer period of unknown speech.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825" marB="63825" marR="63825" marL="638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152400" y="76200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Watch the video clip. </a:t>
            </a:r>
            <a:endParaRPr b="1"/>
          </a:p>
        </p:txBody>
      </p:sp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338100" y="858125"/>
            <a:ext cx="3106500" cy="5727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Any clarifying questions? </a:t>
            </a:r>
            <a:endParaRPr b="1" sz="2000"/>
          </a:p>
        </p:txBody>
      </p:sp>
      <p:sp>
        <p:nvSpPr>
          <p:cNvPr id="273" name="Google Shape;273;p45"/>
          <p:cNvSpPr txBox="1"/>
          <p:nvPr>
            <p:ph idx="1" type="body"/>
          </p:nvPr>
        </p:nvSpPr>
        <p:spPr>
          <a:xfrm>
            <a:off x="338100" y="2161900"/>
            <a:ext cx="6811800" cy="9582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What are you seeing in this video clip with respect to our focal theme (above)?</a:t>
            </a:r>
            <a:endParaRPr b="1" sz="2000"/>
          </a:p>
        </p:txBody>
      </p:sp>
      <p:sp>
        <p:nvSpPr>
          <p:cNvPr id="274" name="Google Shape;274;p45"/>
          <p:cNvSpPr txBox="1"/>
          <p:nvPr>
            <p:ph idx="1" type="body"/>
          </p:nvPr>
        </p:nvSpPr>
        <p:spPr>
          <a:xfrm>
            <a:off x="338100" y="1510013"/>
            <a:ext cx="31065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Re-watch the clip. </a:t>
            </a:r>
            <a:endParaRPr b="1" sz="2000"/>
          </a:p>
        </p:txBody>
      </p:sp>
      <p:sp>
        <p:nvSpPr>
          <p:cNvPr id="275" name="Google Shape;275;p45"/>
          <p:cNvSpPr txBox="1"/>
          <p:nvPr>
            <p:ph idx="1" type="body"/>
          </p:nvPr>
        </p:nvSpPr>
        <p:spPr>
          <a:xfrm>
            <a:off x="338100" y="3199263"/>
            <a:ext cx="31065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Re-watch the clip. </a:t>
            </a:r>
            <a:endParaRPr b="1" sz="2000"/>
          </a:p>
        </p:txBody>
      </p:sp>
      <p:sp>
        <p:nvSpPr>
          <p:cNvPr id="276" name="Google Shape;276;p45"/>
          <p:cNvSpPr txBox="1"/>
          <p:nvPr>
            <p:ph idx="1" type="body"/>
          </p:nvPr>
        </p:nvSpPr>
        <p:spPr>
          <a:xfrm>
            <a:off x="338100" y="3851150"/>
            <a:ext cx="6811800" cy="9582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Now that you’ve watched a few times looking out for our focal theme…</a:t>
            </a:r>
            <a:r>
              <a:rPr b="1" lang="en" sz="2000"/>
              <a:t>free-write for a few minutes.</a:t>
            </a:r>
            <a:endParaRPr b="1"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>
            <p:ph type="title"/>
          </p:nvPr>
        </p:nvSpPr>
        <p:spPr>
          <a:xfrm>
            <a:off x="152400" y="76200"/>
            <a:ext cx="845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Classroom application</a:t>
            </a:r>
            <a:endParaRPr b="1" sz="1600"/>
          </a:p>
        </p:txBody>
      </p:sp>
      <p:sp>
        <p:nvSpPr>
          <p:cNvPr id="282" name="Google Shape;282;p46"/>
          <p:cNvSpPr txBox="1"/>
          <p:nvPr>
            <p:ph idx="1" type="body"/>
          </p:nvPr>
        </p:nvSpPr>
        <p:spPr>
          <a:xfrm>
            <a:off x="307325" y="648900"/>
            <a:ext cx="8525100" cy="35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Ideas for consideration that might help you think about how you frame open-endedness when debugging: 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is the learning </a:t>
            </a:r>
            <a:r>
              <a:rPr lang="en" sz="1700"/>
              <a:t>objective</a:t>
            </a:r>
            <a:r>
              <a:rPr lang="en" sz="1700"/>
              <a:t>? What do you hope students master?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What’s the topic of the lesson?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is the goal of the programming task? 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do you think got the student tripped up with their code in the first place, and do you or they care if it recurs? 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is the students’ current skill level with coding? </a:t>
            </a:r>
            <a:endParaRPr sz="1700">
              <a:highlight>
                <a:srgbClr val="FFFF00"/>
              </a:highlight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How does the student want to fix the code? 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What’s the pathway to the quickest fix?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is the most elegant fix? 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What pathway would teach the student the most about coding? </a:t>
            </a:r>
            <a:endParaRPr sz="1700">
              <a:highlight>
                <a:srgbClr val="FF9900"/>
              </a:highlight>
            </a:endParaRPr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Many others...</a:t>
            </a:r>
            <a:endParaRPr sz="1700"/>
          </a:p>
        </p:txBody>
      </p:sp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07325" y="4124050"/>
            <a:ext cx="8341500" cy="958200"/>
          </a:xfrm>
          <a:prstGeom prst="rect">
            <a:avLst/>
          </a:prstGeom>
          <a:solidFill>
            <a:srgbClr val="FFE599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How do you want to think about open-endedness in </a:t>
            </a:r>
            <a:r>
              <a:rPr b="1" lang="en" sz="2000"/>
              <a:t>your teaching</a:t>
            </a:r>
            <a:r>
              <a:rPr lang="en" sz="2000"/>
              <a:t>? Start brainstorming ideas that you can implement. </a:t>
            </a:r>
            <a:endParaRPr b="1"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Classroom application brainstorm. </a:t>
            </a:r>
            <a:endParaRPr/>
          </a:p>
        </p:txBody>
      </p:sp>
      <p:sp>
        <p:nvSpPr>
          <p:cNvPr id="289" name="Google Shape;289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Notes from our discussion…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