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Proxima Nova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roximaNova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roximaNova-italic.fntdata"/><Relationship Id="rId14" Type="http://schemas.openxmlformats.org/officeDocument/2006/relationships/font" Target="fonts/ProximaNova-bold.fntdata"/><Relationship Id="rId16" Type="http://schemas.openxmlformats.org/officeDocument/2006/relationships/font" Target="fonts/ProximaNova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72d92cb1f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72d92cb1f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75e21d7c6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75e21d7c6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72c3d97b46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72c3d97b46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Mention that your students should see you code, lots of talk about this practice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Identity maps, identity includes race and ethnicity but also much more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Talk about previous day, feeling boxed in bycurriculum with a “right” answer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72d92cb1fc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72d92cb1fc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72d92cb1fc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72d92cb1fc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72d92cb1fc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72d92cb1fc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735d0bfbda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735d0bfbda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>
                <a:solidFill>
                  <a:schemeClr val="lt1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>
                <a:solidFill>
                  <a:schemeClr val="lt1"/>
                </a:solidFill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>
                <a:solidFill>
                  <a:schemeClr val="lt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>
                <a:solidFill>
                  <a:schemeClr val="lt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>
                <a:solidFill>
                  <a:schemeClr val="lt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>
                <a:solidFill>
                  <a:schemeClr val="lt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406400" lvl="0" marL="4572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1pPr>
            <a:lvl2pPr indent="-342900" lvl="1" marL="9144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ctr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ctr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ctr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roxima Nova"/>
              <a:buNone/>
              <a:defRPr sz="3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roxima Nova"/>
              <a:buNone/>
              <a:defRPr sz="33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roxima Nova"/>
              <a:buNone/>
              <a:defRPr sz="33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roxima Nova"/>
              <a:buNone/>
              <a:defRPr sz="33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roxima Nova"/>
              <a:buNone/>
              <a:defRPr sz="33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roxima Nova"/>
              <a:buNone/>
              <a:defRPr sz="33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roxima Nova"/>
              <a:buNone/>
              <a:defRPr sz="33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roxima Nova"/>
              <a:buNone/>
              <a:defRPr sz="33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roxima Nova"/>
              <a:buNone/>
              <a:defRPr sz="33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406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Char char="●"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429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○"/>
              <a:defRPr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429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■"/>
              <a:defRPr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429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●"/>
              <a:defRPr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429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○"/>
              <a:defRPr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429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■"/>
              <a:defRPr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429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●"/>
              <a:defRPr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429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○"/>
              <a:defRPr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429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■"/>
              <a:defRPr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Session 9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Computational, Personal, Social Identities</a:t>
            </a:r>
            <a:endParaRPr/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Reflect on some quotes from Ivan:</a:t>
            </a:r>
            <a:endParaRPr/>
          </a:p>
          <a:p>
            <a:pPr indent="-381000" lvl="0" marL="457200" rtl="0" algn="l"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‘I can't do:::o it!’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‘&gt;Oh my god::d&lt;. I'm SO DUMB’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‘I'm just not meant for coding’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What do they say about Ivan’s identity as a computer scientist?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How can we affirm Ivan’s computational identity?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Computational, Personal, and Social Identities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963575"/>
            <a:ext cx="8626200" cy="222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179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940"/>
              <a:buChar char="●"/>
            </a:pPr>
            <a:r>
              <a:rPr lang="en" sz="1940"/>
              <a:t>“But if we can find an honest place for scientific thinking in activities that the child feels are important and personal, we shall open the doors to a more coherent, syntonic pattern of Learning.” </a:t>
            </a:r>
            <a:r>
              <a:rPr lang="en" sz="1940"/>
              <a:t>(Papert, 1980, pp. 96-97).</a:t>
            </a:r>
            <a:endParaRPr sz="1940"/>
          </a:p>
          <a:p>
            <a:pPr indent="-35179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940"/>
              <a:buChar char="●"/>
            </a:pPr>
            <a:r>
              <a:rPr lang="en" sz="1940"/>
              <a:t>“In the LOGO environment, children learn that teacher too is a learner, and that everyone learns from mistakes.” </a:t>
            </a:r>
            <a:r>
              <a:rPr lang="en" sz="1940"/>
              <a:t>(Papert, 1980, p. 114).</a:t>
            </a:r>
            <a:endParaRPr sz="1940"/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34000" y="2784175"/>
            <a:ext cx="2310000" cy="23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 title="Untitle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8725" y="3006725"/>
            <a:ext cx="2086650" cy="208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/>
          <p:cNvPicPr preferRelativeResize="0"/>
          <p:nvPr/>
        </p:nvPicPr>
        <p:blipFill rotWithShape="1">
          <a:blip r:embed="rId5">
            <a:alphaModFix/>
          </a:blip>
          <a:srcRect b="0" l="0" r="0" t="29996"/>
          <a:stretch/>
        </p:blipFill>
        <p:spPr>
          <a:xfrm>
            <a:off x="2863125" y="3236275"/>
            <a:ext cx="3417775" cy="180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Goals</a:t>
            </a:r>
            <a:endParaRPr/>
          </a:p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Reflect on feedback from yesterday’s sessions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Revise your resources after peer feedback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Whole group share out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Reflection on resource feedback (5 minutes)</a:t>
            </a:r>
            <a:endParaRPr/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What feedback did you receive that you want to </a:t>
            </a:r>
            <a:r>
              <a:rPr lang="en"/>
              <a:t>incorporate into your pedagogy or resource</a:t>
            </a:r>
            <a:r>
              <a:rPr lang="en"/>
              <a:t>?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What did you see from a partner that you would like to incorporate into your </a:t>
            </a:r>
            <a:r>
              <a:rPr lang="en"/>
              <a:t>pedagogy</a:t>
            </a:r>
            <a:r>
              <a:rPr lang="en"/>
              <a:t> or resource?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440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 Revision (30 minutes)</a:t>
            </a:r>
            <a:endParaRPr/>
          </a:p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Continue to work on your resource and incorporate feedback.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Continue to consider:</a:t>
            </a:r>
            <a:endParaRPr/>
          </a:p>
          <a:p>
            <a:pPr indent="-358140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Open-endedness</a:t>
            </a:r>
            <a:endParaRPr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n" sz="2000"/>
              <a:t>How can you make room for a variety of student solutions?</a:t>
            </a:r>
            <a:endParaRPr sz="2000"/>
          </a:p>
          <a:p>
            <a:pPr indent="-35814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Conflict</a:t>
            </a:r>
            <a:endParaRPr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n" sz="2000"/>
              <a:t>How can you clarify and balance student and instructor goals during debugging?</a:t>
            </a:r>
            <a:endParaRPr/>
          </a:p>
          <a:p>
            <a:pPr indent="-35814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Emotion</a:t>
            </a:r>
            <a:endParaRPr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n" sz="2000"/>
              <a:t>How can you leverage and support student emotion during debugging?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440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Whole group share out (30 minutes)</a:t>
            </a:r>
            <a:endParaRPr/>
          </a:p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Spend a few minutes sharing out your work!</a:t>
            </a:r>
            <a:endParaRPr/>
          </a:p>
          <a:p>
            <a:pPr indent="-381000" lvl="0" marL="457200" rtl="0" algn="l">
              <a:spcBef>
                <a:spcPts val="12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What </a:t>
            </a:r>
            <a:r>
              <a:rPr lang="en"/>
              <a:t>resource(s) </a:t>
            </a:r>
            <a:r>
              <a:rPr lang="en"/>
              <a:t>did you create?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What are the next steps?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Please feel free to add any resources to the shared folder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