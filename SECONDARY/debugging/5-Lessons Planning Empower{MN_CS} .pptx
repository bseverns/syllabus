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07BB0B-91F4-40A5-A6C7-ED4215C951F5}">
  <a:tblStyle styleId="{AF07BB0B-91F4-40A5-A6C7-ED4215C951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9.xml"/><Relationship Id="rId19" Type="http://schemas.openxmlformats.org/officeDocument/2006/relationships/font" Target="fonts/ProximaNova-italic.fntdata"/><Relationship Id="rId1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5a39954c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5a39954c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5a39954c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5a39954c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32a2eab3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32a2eab3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32a2eab3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32a2eab3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5a39954c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5a39954c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5a39954c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5a39954c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2d9f4dc8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2d9f4dc8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5b8b0a3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5b8b0a3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0" y="1919075"/>
            <a:ext cx="2751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6393000" y="1919075"/>
            <a:ext cx="2751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8"/>
          <p:cNvSpPr txBox="1"/>
          <p:nvPr>
            <p:ph idx="3" type="body"/>
          </p:nvPr>
        </p:nvSpPr>
        <p:spPr>
          <a:xfrm>
            <a:off x="3196500" y="1919075"/>
            <a:ext cx="2751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2">
  <p:cSld name="BLANK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26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125" name="Google Shape;125;p2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26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129" name="Google Shape;129;p26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26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146" name="Google Shape;146;p2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●"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ps.apple.com/us/app/tim-hortons/id1143883086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ditor.p5js.org/whetungc/sketches/M3RCML5vC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Debugging Workshop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Empower {MN:CS}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Today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Apply our learnings (open-endedness, conflict, emotion) to a practical resource you will </a:t>
            </a:r>
            <a:r>
              <a:rPr b="1" i="1" lang="en" u="sng"/>
              <a:t>use</a:t>
            </a:r>
            <a:r>
              <a:rPr lang="en"/>
              <a:t> in your teaching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Practice our materials and understanding in sharing pairs (maybe simulations with David Melchionne-Martinez this afternoon? 🤞🏻)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your resource (10 minutes)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Can be something new, or updating an existing work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We want you to leave with something </a:t>
            </a:r>
            <a:r>
              <a:rPr b="1" i="1" lang="en" u="sng"/>
              <a:t>practical</a:t>
            </a:r>
            <a:r>
              <a:rPr lang="en"/>
              <a:t> that you will be able to use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Some ideas: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A lesson plan you will use in your classroom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A new classroom strategy around failure or debugging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Materials for other teachers in your school or department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Scope and sequence around debugging or refactoring plans for your school, district, or program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Classroom strategies or norms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30"/>
          <p:cNvGraphicFramePr/>
          <p:nvPr/>
        </p:nvGraphicFramePr>
        <p:xfrm>
          <a:off x="403788" y="21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{AF07BB0B-91F4-40A5-A6C7-ED4215C951F5}</a:tableStyleId>
              </a:tblPr>
              <a:tblGrid>
                <a:gridCol w="1644425"/>
                <a:gridCol w="1644425"/>
                <a:gridCol w="1644425"/>
                <a:gridCol w="1644425"/>
                <a:gridCol w="1644425"/>
              </a:tblGrid>
              <a:tr h="1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79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Testing</a:t>
                      </a:r>
                      <a:endParaRPr b="1" sz="2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Failure</a:t>
                      </a:r>
                      <a:endParaRPr b="1" sz="2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Pairing</a:t>
                      </a:r>
                      <a:endParaRPr b="1" sz="2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Security</a:t>
                      </a:r>
                      <a:endParaRPr b="1" sz="2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Shipping</a:t>
                      </a:r>
                      <a:endParaRPr b="1" sz="2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72" name="Google Shape;172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Science Values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25" y="2543175"/>
            <a:ext cx="123825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7425" y="2552700"/>
            <a:ext cx="12382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3825" y="2562225"/>
            <a:ext cx="123825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6875" y="2552700"/>
            <a:ext cx="12382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8050" y="2571750"/>
            <a:ext cx="1238250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What will we do when things don’t work?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  <p:sp>
        <p:nvSpPr>
          <p:cNvPr id="184" name="Google Shape;184;p31"/>
          <p:cNvSpPr txBox="1"/>
          <p:nvPr/>
        </p:nvSpPr>
        <p:spPr>
          <a:xfrm>
            <a:off x="471900" y="2446025"/>
            <a:ext cx="82221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Doesn't work.</a:t>
            </a:r>
            <a:endParaRPr sz="20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11111"/>
                </a:solidFill>
              </a:rPr>
              <a:t>It's been a lot of stress; for a chain this big, I'm surprised how buggy this app is.</a:t>
            </a:r>
            <a:endParaRPr sz="2400">
              <a:solidFill>
                <a:srgbClr val="11111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475" y="393913"/>
            <a:ext cx="123825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share out/groups (10 minutes)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share out:</a:t>
            </a:r>
            <a:endParaRPr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you’ll work on?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grade level?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technologies?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We’ll group up around common areas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time (50 minutes)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update this resource to reflect:</a:t>
            </a:r>
            <a:endParaRPr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Open-endedness</a:t>
            </a:r>
            <a:endParaRPr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2000"/>
              <a:t>How can you make room for a variety of student solutions?</a:t>
            </a:r>
            <a:endParaRPr sz="20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Conflict</a:t>
            </a:r>
            <a:endParaRPr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2000"/>
              <a:t>How can you clarify and balance student and instructor goals during debugging?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Emotion</a:t>
            </a:r>
            <a:endParaRPr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2000"/>
              <a:t>How can you leverage and support student emotion during debugging?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David and Clay are available for breakouts!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 up (15 minutes)</a:t>
            </a:r>
            <a:endParaRPr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Popcorn</a:t>
            </a:r>
            <a:r>
              <a:rPr lang="en"/>
              <a:t> share out:</a:t>
            </a:r>
            <a:endParaRPr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did you work on?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are your </a:t>
            </a:r>
            <a:r>
              <a:rPr lang="en"/>
              <a:t>next steps?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support do you need?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rect() student example</a:t>
            </a:r>
            <a:endParaRPr/>
          </a:p>
        </p:txBody>
      </p:sp>
      <p:pic>
        <p:nvPicPr>
          <p:cNvPr id="209" name="Google Shape;209;p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0" y="1119725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S Class">
  <a:themeElements>
    <a:clrScheme name="Material">
      <a:dk1>
        <a:srgbClr val="4285F4"/>
      </a:dk1>
      <a:lt1>
        <a:srgbClr val="FFFFFF"/>
      </a:lt1>
      <a:dk2>
        <a:srgbClr val="000000"/>
      </a:dk2>
      <a:lt2>
        <a:srgbClr val="000000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